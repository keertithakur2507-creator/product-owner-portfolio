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2971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D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000" b="1" dirty="0">
                <a:solidFill>
                  <a:srgbClr val="2E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02920" y="6400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Reconstructed frameworks to be validated  |  Reported facts only: no revenue, ROI or conversion % claimed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1463040"/>
            <a:ext cx="3108960" cy="3108960"/>
          </a:xfrm>
          <a:prstGeom prst="ellipse">
            <a:avLst/>
          </a:prstGeom>
          <a:solidFill>
            <a:srgbClr val="22B8A0"/>
          </a:solidFill>
          <a:ln w="12700">
            <a:solidFill>
              <a:srgbClr val="22B8A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686800" y="14630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2E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972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E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EDTECH  |  SAHAR PUBLIC SCHOOLS (CBSE)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2E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Enquiry-to-Admission: PRD, Hypotheses &amp; GTM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8404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44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Reported: admissions growth work with Google Analytics and GTM enquiry tracking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research from zero: 8 weeks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17904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E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1-2  Frame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04088" y="1938528"/>
            <a:ext cx="224942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principal, admissions and teachers: capacity, fee bands, drop-offs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137160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93008" y="1517904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E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2-4  Desk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493008" y="1938528"/>
            <a:ext cx="224942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nearby CBSE schools on fees, results, facilities, transport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80760" y="137160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81928" y="1517904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E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4-6  Field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281928" y="1938528"/>
            <a:ext cx="224942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15 parents (enrolled and went elsewhere); audit enquiry log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869680" y="137160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070848" y="1517904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E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6-8  Synthesize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9070848" y="1938528"/>
            <a:ext cx="224942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parent decision criteria; locate funnel leaks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4572000"/>
            <a:ext cx="11155680" cy="1554480"/>
          </a:xfrm>
          <a:prstGeom prst="roundRect">
            <a:avLst>
              <a:gd name="adj" fmla="val 4706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754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0749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or guardian of a school-age child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389120" y="4754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TO BE DONE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389120" y="50749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safe, good-value CBSE school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0" y="4754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046720" y="50749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compare schools; unclear fees; unverifiable claims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Hypotheses to validate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155680" cy="484632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Hypothesis (if / then)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to validate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ED-01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Education-value messaging (teachers, outcomes, safety) beats facility-only ads on enquiry quality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Enquiry-to-visit 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2-week creative split tracked by GA and GTM source tags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ED-02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One-minute visit and counselling booking raises enquiry-to-visit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 bookings per 100 enquiries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 link vs call-back-only for two weeks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ED-03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 testimonials and community groups widen awareness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Referral enquiries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 enquiries tagged referral per month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PRD: Enquiry-to-Admission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5532120" cy="2331720"/>
          </a:xfrm>
          <a:prstGeom prst="roundRect">
            <a:avLst>
              <a:gd name="adj" fmla="val 3137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17904"/>
            <a:ext cx="5129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E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and goal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04088" y="1938528"/>
            <a:ext cx="51297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cannot judge value quickly; follow-up is ad hoc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more qualified visits and admissions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26480" y="1371600"/>
            <a:ext cx="5532120" cy="2331720"/>
          </a:xfrm>
          <a:prstGeom prst="roundRect">
            <a:avLst>
              <a:gd name="adj" fmla="val 3137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27648" y="1517904"/>
            <a:ext cx="5129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E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scope (must-have)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327648" y="1938528"/>
            <a:ext cx="51297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pages with clear value proposition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Enquiry form with GA and GTM source tracking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booking, reminders, follow-up status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3840480"/>
            <a:ext cx="5532120" cy="2331720"/>
          </a:xfrm>
          <a:prstGeom prst="roundRect">
            <a:avLst>
              <a:gd name="adj" fmla="val 3137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04088" y="3986784"/>
            <a:ext cx="5129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E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04088" y="4407408"/>
            <a:ext cx="51297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Parent: book a visit in under a minute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Counsellor: see who to call today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Principal: view the funnel weekly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26480" y="3840480"/>
            <a:ext cx="5532120" cy="2331720"/>
          </a:xfrm>
          <a:prstGeom prst="roundRect">
            <a:avLst>
              <a:gd name="adj" fmla="val 3137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27648" y="3986784"/>
            <a:ext cx="5129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E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 and non-goals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327648" y="4407408"/>
            <a:ext cx="51297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Enquiries by source, visit rate, application rate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now: ERP or LMS, online fee payment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leads and responses from the target audience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155680" cy="448056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technique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we get a response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and Meta ads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Geo-targeted around Bhopal; value-led creative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Click-to-call or WhatsApp; call within 1 hour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house and visit days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Slot booking; meet-the-teacher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Same-day thank-you and next step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 and alumni referrals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Referral desk; testimonials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 call by counsellor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Societies, pre-schools, groups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 sessions and tie-ups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QR form; follow-up within 24 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Go-to-market journey and techniques applied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2103120" cy="594360"/>
          </a:xfrm>
          <a:prstGeom prst="rect">
            <a:avLst/>
          </a:prstGeom>
          <a:solidFill>
            <a:srgbClr val="2E2A6B"/>
          </a:solidFill>
          <a:ln w="12700">
            <a:solidFill>
              <a:srgbClr val="2E2A6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3716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2103120" cy="1234440"/>
          </a:xfrm>
          <a:prstGeom prst="rect">
            <a:avLst/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12648" y="2057400"/>
            <a:ext cx="1883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ads, community, referrals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2918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E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Reach by source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66060" y="1371600"/>
            <a:ext cx="2103120" cy="594360"/>
          </a:xfrm>
          <a:prstGeom prst="rect">
            <a:avLst/>
          </a:prstGeom>
          <a:solidFill>
            <a:srgbClr val="2E2A6B"/>
          </a:solidFill>
          <a:ln w="12700">
            <a:solidFill>
              <a:srgbClr val="2E2A6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66060" y="13716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66060" y="1965960"/>
            <a:ext cx="2103120" cy="1234440"/>
          </a:xfrm>
          <a:prstGeom prst="rect">
            <a:avLst/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75788" y="2057400"/>
            <a:ext cx="1883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and call; GA source tag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766060" y="32918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E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Enquiries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0" y="1371600"/>
            <a:ext cx="2103120" cy="594360"/>
          </a:xfrm>
          <a:prstGeom prst="rect">
            <a:avLst/>
          </a:prstGeom>
          <a:solidFill>
            <a:srgbClr val="2E2A6B"/>
          </a:solidFill>
          <a:ln w="12700">
            <a:solidFill>
              <a:srgbClr val="2E2A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0" y="13716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Counselling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0" y="1965960"/>
            <a:ext cx="2103120" cy="1234440"/>
          </a:xfrm>
          <a:prstGeom prst="rect">
            <a:avLst/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38928" y="2057400"/>
            <a:ext cx="1883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20-minute counselling call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0" y="32918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E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Counselling booked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292340" y="1371600"/>
            <a:ext cx="2103120" cy="594360"/>
          </a:xfrm>
          <a:prstGeom prst="rect">
            <a:avLst/>
          </a:prstGeom>
          <a:solidFill>
            <a:srgbClr val="2E2A6B"/>
          </a:solidFill>
          <a:ln w="12700">
            <a:solidFill>
              <a:srgbClr val="2E2A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92340" y="13716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Visit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292340" y="1965960"/>
            <a:ext cx="2103120" cy="1234440"/>
          </a:xfrm>
          <a:prstGeom prst="rect">
            <a:avLst/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02068" y="2057400"/>
            <a:ext cx="1883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Visit, teacher meet, fee clarity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292340" y="32918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E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Visits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555480" y="1371600"/>
            <a:ext cx="2103120" cy="594360"/>
          </a:xfrm>
          <a:prstGeom prst="rect">
            <a:avLst/>
          </a:prstGeom>
          <a:solidFill>
            <a:srgbClr val="2E2A6B"/>
          </a:solidFill>
          <a:ln w="12700">
            <a:solidFill>
              <a:srgbClr val="2E2A6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555480" y="13716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and Admission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555480" y="1965960"/>
            <a:ext cx="2103120" cy="1234440"/>
          </a:xfrm>
          <a:prstGeom prst="rect">
            <a:avLst/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665208" y="2057400"/>
            <a:ext cx="1883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Checklist, reminders, offer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555480" y="32918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E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Admissions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02920" y="4023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E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Techniques applied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02920" y="448056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04088" y="4626864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E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every source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704088" y="5047488"/>
            <a:ext cx="3209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and GTM show which channel brings enquiries that visit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274820" y="448056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475988" y="4626864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E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 and safety first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4475988" y="5047488"/>
            <a:ext cx="3209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 answers top parent doubts before facilities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8046720" y="448056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247888" y="4626864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E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Counsellor cadence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8247888" y="5047488"/>
            <a:ext cx="3209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in an hour, remind before the visit, follow up after</a:t>
            </a:r>
            <a:endParaRPr lang="en-US" sz="14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03_EdTech_Sahar_Public_Schools">
  <a:themeElements>
    <a:clrScheme name="03_EdTech_Sahar_Public_Schools">
      <a:dk1>
        <a:srgbClr val="222222"/>
      </a:dk1>
      <a:lt1>
        <a:srgbClr val="FFFFFF"/>
      </a:lt1>
      <a:dk2>
        <a:srgbClr val="2E2A6B"/>
      </a:dk2>
      <a:lt2>
        <a:srgbClr val="F1F4F7"/>
      </a:lt2>
      <a:accent1>
        <a:srgbClr val="2E2A6B"/>
      </a:accent1>
      <a:accent2>
        <a:srgbClr val="22B8A0"/>
      </a:accent2>
      <a:accent3>
        <a:srgbClr val="6B7785"/>
      </a:accent3>
      <a:accent4>
        <a:srgbClr val="D5DAE0"/>
      </a:accent4>
      <a:accent5>
        <a:srgbClr val="22B8A0"/>
      </a:accent5>
      <a:accent6>
        <a:srgbClr val="2E2A6B"/>
      </a:accent6>
      <a:hlink>
        <a:srgbClr val="22B8A0"/>
      </a:hlink>
      <a:folHlink>
        <a:srgbClr val="2E2A6B"/>
      </a:folHlink>
    </a:clrScheme>
    <a:fontScheme name="03_EdTech_Sahar_Public_School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483</Words>
  <Application>Microsoft Office PowerPoint</Application>
  <PresentationFormat>Widescreen</PresentationFormat>
  <Paragraphs>101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03_EdTech_Sahar_Public_Schools</vt:lpstr>
      <vt:lpstr>PowerPoint Presentation</vt:lpstr>
      <vt:lpstr>Market research from zero: 8 weeks</vt:lpstr>
      <vt:lpstr>Hypotheses to validate</vt:lpstr>
      <vt:lpstr>PRD: Enquiry-to-Admission</vt:lpstr>
      <vt:lpstr>Getting leads and responses from the target audience</vt:lpstr>
      <vt:lpstr>Go-to-market journey and techniques applied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shruti thakur</cp:lastModifiedBy>
  <cp:revision>2</cp:revision>
  <dcterms:created xsi:type="dcterms:W3CDTF">2026-10-27T13:46:19Z</dcterms:created>
  <dcterms:modified xsi:type="dcterms:W3CDTF">2026-10-27T14:05:19Z</dcterms:modified>
</cp:coreProperties>
</file>