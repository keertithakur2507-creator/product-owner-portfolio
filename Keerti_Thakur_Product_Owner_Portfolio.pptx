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727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OWNERSHIP, GROWTH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GO-TO-MARKET STRATEGY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Four-Vertical Case Study Across Real Estate, Automotive,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&amp; Pharmaceutical Healthcare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37160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Shrutkeerti Thakur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 |  Product Manager  |  Growth &amp; Product Marketing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/ Retrospective Case Study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· Activities · Reported Outcomes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057400" cy="2148840"/>
          </a:xfrm>
          <a:prstGeom prst="roundRect">
            <a:avLst>
              <a:gd name="adj" fmla="val 3556"/>
            </a:avLst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005840"/>
            <a:ext cx="20574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Real Estate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Agrawal Builders, Bhopal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Residential &amp; commercial projects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Product vision, roadmap, GTM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Contributed to 13 project closures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1005840"/>
            <a:ext cx="2057400" cy="2148840"/>
          </a:xfrm>
          <a:prstGeom prst="roundRect">
            <a:avLst>
              <a:gd name="adj" fmla="val 3556"/>
            </a:avLst>
          </a:prstGeom>
          <a:solidFill>
            <a:srgbClr val="F7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1005840"/>
            <a:ext cx="20574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Auto Manufacturing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Mak Motors: Batteries &amp; Tool Kits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1874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Channel enablement &amp; positioning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Product strategy &amp; backlog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Sales collateral &amp; experiments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2057400" cy="2148840"/>
          </a:xfrm>
          <a:prstGeom prst="roundRect">
            <a:avLst>
              <a:gd name="adj" fmla="val 3556"/>
            </a:avLst>
          </a:prstGeom>
          <a:solidFill>
            <a:srgbClr val="F7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1005840"/>
            <a:ext cx="20574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EdTech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Sahar Public Schools (CBSE)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1874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Admissions growth focus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Parent-centric messaging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GA / GTM enquiry tracking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005840"/>
            <a:ext cx="2057400" cy="2148840"/>
          </a:xfrm>
          <a:prstGeom prst="roundRect">
            <a:avLst>
              <a:gd name="adj" fmla="val 3556"/>
            </a:avLst>
          </a:prstGeom>
          <a:solidFill>
            <a:srgbClr val="F7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3720" y="1005840"/>
            <a:ext cx="20574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Lupin-related Contract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95160" y="1874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130 pharmacies, hospitals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distributors network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Stakeholder coordination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337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Reported Outcomes: </a:t>
            </a:r>
            <a:r>
              <a:rPr lang="en-US" sz="1100" dirty="0">
                <a:solidFill>
                  <a:srgbClr val="4A5568"/>
                </a:solidFill>
              </a:rPr>
              <a:t>13 real-estate projects (5 residential + 8 commercial)  ·  Lupin-related network of 130 accounts  ·  3 interns mentored  ·  Agile/Scrum delivery across four verticals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840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Distinction: Scope &amp; activities described by the candidate are combined with reconstructed illustrative frameworks (PRDs, roadmaps, hypotheses, personas). No revenue, conversion rates or unstated metrics are claimed.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Product Ownership Operating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10-step approach adapted to each vertical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61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Understand the business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01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Identify users &amp; stakeholders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41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Market &amp; competitor research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Define problems &amp; hypotheses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21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Write PRD / BRD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161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Vision &amp; roadmap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801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Prioritise backlog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41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Brand positioning &amp; GTM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Coordinate execution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6118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21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Measure &amp; iterate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Four-Vertical Business Landscape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matrix – context, segments, opportunities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173736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Dimension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005840"/>
            <a:ext cx="173736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Real Estate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03320" y="1005840"/>
            <a:ext cx="173736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Auto Mfg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005840"/>
            <a:ext cx="173736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EdTech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78040" y="1005840"/>
            <a:ext cx="173736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Healthcare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37160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137160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Project sales (res/comm)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03320" y="137160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Wholesale batteries &amp; kits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37160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Fee-based admissions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78040" y="137160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Contract service delivery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196596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Primary Segments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65960" y="196596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Home buyers, investors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03320" y="196596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Retailers, workshops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96596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Parents &amp; students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178040" y="196596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Pharmacies, hospitals, dist.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" y="256032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Key Stakeholders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65960" y="256032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Sales, management, buyers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03320" y="256032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Channel partners, end users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40680" y="256032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Parents, admin, influencers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178040" y="256032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Procurement, ops, sales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315468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Core Opportunity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965960" y="315468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116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Enquiry → site-visit conversion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703320" y="315468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Channel enablement &amp; catalogue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440680" y="315468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Awareness → admission funnel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178040" y="315468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Coordination across 130 accounts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28600" y="374904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Success Metrics*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965960" y="374904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1168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Qualified visits, closures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703320" y="374904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Qualified enquiries, repeat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440680" y="374904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Enquiries, visits, admissions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178040" y="3749040"/>
            <a:ext cx="173736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2376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02C"/>
                </a:solidFill>
              </a:rPr>
              <a:t>Coverage, resolution time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7432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</a:rPr>
              <a:t>* Primary success metrics are directional; actual historical values not claimed.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Discovery &amp; Research Methodology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/ retrospective structure – not claimed as completed interviews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88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Stakeholder interviews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Question answered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691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What are business goals &amp; constraints?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Informs: Vision, priorities, constraints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188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Customer / user interviews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5087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Question answered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691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What jobs, pains, gains exist?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Informs: Personas, JTBD, requirements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188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Sales team interviews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5087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Question answered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691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What objections &amp; win patterns?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Informs: Messaging, enablement gaps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Competitor benchmarking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200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Question answered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How do alternatives position?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794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Informs: Differentiation, whitespace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74320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Journey mapping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200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Question answered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Where do drop-offs occur?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794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Informs: Process improvements, funnel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274320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Process &amp; feasibility review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200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377"/>
                </a:solidFill>
              </a:rPr>
              <a:t>Question answered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What is operationally possible?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3794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Informs: Scope, MVP definition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Across Four Verticals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 → Data Needed → Decision (illustrative frameworks)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051560"/>
            <a:ext cx="21031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15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Estate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645920"/>
            <a:ext cx="1874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Demand by location &amp; type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Buyer affordability &amp; trust drivers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Competitor project differentiation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Lead sources &amp; sales cycle length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0515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051560"/>
            <a:ext cx="21031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115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Manufacturing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1645920"/>
            <a:ext cx="1874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Retailer vs workshop needs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Spec &amp; reliability criteria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Distribution &amp; after-sales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Price value positioning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051560"/>
            <a:ext cx="21031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115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EdTech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1645920"/>
            <a:ext cx="1874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Parent decision criteria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CBSE selection factors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Local school competition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Enquiry sources &amp; funnel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0515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051560"/>
            <a:ext cx="21031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115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67728" y="1645920"/>
            <a:ext cx="1874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Pharmacy / hospital / dist. needs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Procurement decision process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Availability &amp; compliance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Communication expectations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 &amp; Jobs-to-Be-Done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hypotheses – require validation; not verified research findings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887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</a:rPr>
              <a:t>Real Estate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Residential Buyer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</a:rPr>
              <a:t>Job / Goal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Secure quality home in trusted location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</a:rPr>
              <a:t>Key Pain Point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Uncertainty on delivery &amp; amenities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0515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1887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</a:rPr>
              <a:t>Auto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Retailer / Distributor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</a:rPr>
              <a:t>Job / Goal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Reliable stock &amp; clear product fit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2926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</a:rPr>
              <a:t>Key Pain Point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Incomplete specs &amp; slow response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515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1887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</a:rPr>
              <a:t>EdTech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Parent / Guardian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</a:rPr>
              <a:t>Job / Goal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Quality CBSE education &amp; safety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926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</a:rPr>
              <a:t>Key Pain Point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Hard to compare schools &amp; trust claims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10515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1887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</a:rPr>
              <a:t>Healthcare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Pharmacy / Hospital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</a:rPr>
              <a:t>Job / Goal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Consistent supply &amp; clear communication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2926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5568"/>
                </a:solidFill>
              </a:rPr>
              <a:t>Key Pain Point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Fragmented follow-up &amp; blockers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Statements &amp; Opportunity Mapping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hypotheses – to be validated by research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Real Estate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Buyers hesitate to progress from enquiry to site visit due to incomplete information and delayed follow-up.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143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Opportunity: Structured qualification + timely, project-specific communication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Auto Mfg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965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Channel partners lack clear product suitability and availability information, slowing qualified orders.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Opportunity: Segmented catalogue + enablement collateral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859536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EdTech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Parents struggle to evaluate school value quickly, reducing enquiry-to-visit conversion.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Opportunity: Clear value messaging + simple visit booking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859536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703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Multiple stakeholder types in a 130-account network create communication gaps and unresolved blockers.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Opportunity: Standardised coordination &amp; issue-tracking process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Framework (Sample Across Verticals)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register – each hypothesis requires validation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2296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97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1051560"/>
            <a:ext cx="182880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 Segment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051560"/>
            <a:ext cx="301752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Proposed Intervention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01168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Leading Indicator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051560"/>
            <a:ext cx="82296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1097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417320"/>
            <a:ext cx="82296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RE-01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" y="1417320"/>
            <a:ext cx="18288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Residential buyers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1417320"/>
            <a:ext cx="301752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Project-specific messaging + timely follow-up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1417320"/>
            <a:ext cx="201168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Qualified site visits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1417320"/>
            <a:ext cx="82296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High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057400"/>
            <a:ext cx="822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AM-01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7280" y="205740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Retailers / distributors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0" y="2057400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Tailored product sheets &amp; enablement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05740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Qualified channel enquiries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55280" y="2057400"/>
            <a:ext cx="822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Med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697480"/>
            <a:ext cx="82296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ED-01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97280" y="2697480"/>
            <a:ext cx="18288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Parents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0" y="2697480"/>
            <a:ext cx="301752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7180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Clear value + easy enquiry/visit process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0" y="2697480"/>
            <a:ext cx="201168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2834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Admissions enquiries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55280" y="2697480"/>
            <a:ext cx="82296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0100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High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337560"/>
            <a:ext cx="822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474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HC-01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97280" y="3337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300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Pharmacies &amp; hospitals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26080" y="3337560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7180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Stakeholder-specific updates + issue log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43600" y="333756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8932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Fewer open blockers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955280" y="3337560"/>
            <a:ext cx="822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01000" y="3474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Med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</a:rPr>
              <a:t>Full hypothesis register (3+ per vertical) with validation methods is provided in the accompanying case-study document.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PRD – Real Estate Lead-to-Site-Visit Workflow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Retrospective illustrative PRD (not claimed as deployed software)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234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Buyers and sales teams lack a structured way to capture, qualify and progress enquiries into coordinated site visits.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005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Business Objective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Increase qualified site visits and improve conversion visibility for residential and commercial projects.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18745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Key User Stories (sample)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1488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1.  As a sales representative, I want to capture and categorise buyer enquiries so that I can prioritise follow-ups.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5146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2.  As a sales manager, I want visibility of enquiry status and next actions so that I can coach the team.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880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3.  As a buyer, I want clear project information and easy scheduling of a site visit so that I can evaluate options.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246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4.  As an operations stakeholder, I want visit outcomes logged so that feedback informs project messaging.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6118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5.  As a marketer, I want source and campaign attribution so that I can optimise acquisition channels.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PRD – Automotive Catalogue &amp; Channel Enquiry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Illustrative planning artifact (not claimed as implemented product)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43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Scope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1887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Product catalogue for batteries &amp; tool kits, segment-specific information, enquiry capture, suitability guidance, lead routing, basic availability signals, follow-up tracking.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Out of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0116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Full inventory management system, ERP integration, or manufacturing execution – unless later prioritised.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MVP Definition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8346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Searchable catalogue + enquiry form + simple status tracking for sales / channel team.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Success Metrics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36576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Qualified channel enquiries, time-to-first-response, conversion to commercial discussion (where data exists).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PRD – EdTech Enquiry-to-Admission Journey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Proposed workflow concept; GA/GTM usage reported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Journey Stages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Awareness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13716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Enquiry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3716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Counselling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School Visit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3716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Admission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Key Requirements (illustrative)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•  Parent-facing value proposition and school information pages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•  Simple enquiry form with source tracking (supports Google Analytics / Tag Manager)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•  Visit / counselling booking workflow and reminder capability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•  Follow-up status for admissions team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•  Basic parent feedback capture after visit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PRD – Healthcare Stakeholder Coordination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Proposed workflow concept for 130-account network (not a clinical product)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Stakeholder Directory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0515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Maintain contacts and roles across pharmacies, private hospitals and distributors within contract scope.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Issue / Requirement 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6916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Capture requests, issues and blockers with assignment and priority.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Communication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3317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Record follow-ups and ensure coverage across account types.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Escalation &amp; Reporting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9718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Surface open blockers, response times and service status for management review.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Access &amp; Confidentiality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6118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Role-based visibility and data-protection considerations appropriate to the contract.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 &amp; Strategic Roadmaps (Now / Next / Later)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illustrative roadmaps – not historical dated plans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Estate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105156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124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NOW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Buyer research &amp; project positioning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105156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124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NEXT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Enquiry qualification &amp; site-visit process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05156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124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LATER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2940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Feedback loops &amp; conversion analysis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192024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37360" y="192024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1783080" y="1993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NOW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Segment &amp; product research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60520" y="192024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1993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NEXT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Dealer enablement &amp; catalogue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192024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1993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LATER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Enquiry process &amp; channel feedback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27889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EdTech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37360" y="278892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1783080" y="2862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NOW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8308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Parent research &amp; school positioning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60520" y="278892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0" y="2862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NEXT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062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Awareness campaigns &amp; enquiry flow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278892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2862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LATER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2940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Visit-to-admission funnel optimisation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36576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B1F3A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737360" y="36576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1783080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NOW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78308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Stakeholder mapping &amp; requirements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60520" y="36576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4206240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NEXT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0624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Coordination process &amp; issue log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83680" y="36576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6629400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LATER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2940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Reporting &amp; service-quality review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Prioritisation &amp; Agile / Scrum Delivery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backlog &amp; process – Jira / Trello used as reported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Sample Illustrative Backlog (Real Estate focus)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822960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371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325880"/>
            <a:ext cx="1463040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371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Epic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325880"/>
            <a:ext cx="3200400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Story (short)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325880"/>
            <a:ext cx="914400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325880"/>
            <a:ext cx="914400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Effort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89520" y="1325880"/>
            <a:ext cx="914400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645920"/>
            <a:ext cx="82296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719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RE-101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1645920"/>
            <a:ext cx="146304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Enquiry Capture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1645920"/>
            <a:ext cx="3200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17190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Capture &amp; categorise enquiries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1645920"/>
            <a:ext cx="914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17190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High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1645920"/>
            <a:ext cx="914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7190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1645920"/>
            <a:ext cx="914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7190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P1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01168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0848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RE-102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97280" y="201168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Qualification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0" y="2011680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2084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Score &amp; prioritise leads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201168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084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High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201168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2084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89520" y="201168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2084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P1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2377440"/>
            <a:ext cx="82296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450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RE-103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97280" y="2377440"/>
            <a:ext cx="146304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3000" y="2450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Site Visit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60320" y="2377440"/>
            <a:ext cx="3200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24505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Schedule &amp; log visits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60720" y="2377440"/>
            <a:ext cx="914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24505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High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75120" y="2377440"/>
            <a:ext cx="914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24505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9520" y="2377440"/>
            <a:ext cx="914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35240" y="24505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P2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274320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28163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RE-104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97280" y="274320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3000" y="28163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Feedback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60320" y="2743200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06040" y="28163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Capture visit outcomes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60720" y="274320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2816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Med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675120" y="274320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0840" y="2816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589520" y="274320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35240" y="2816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P2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74320" y="3108960"/>
            <a:ext cx="82296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31821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RE-105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097280" y="3108960"/>
            <a:ext cx="146304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43000" y="3182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Reporting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560320" y="3108960"/>
            <a:ext cx="3200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06040" y="31821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Pipeline visibility dashboard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760720" y="3108960"/>
            <a:ext cx="914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06440" y="31821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Med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675120" y="3108960"/>
            <a:ext cx="914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720840" y="31821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M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589520" y="3108960"/>
            <a:ext cx="914400" cy="365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35240" y="31821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P3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74320" y="37490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Process: Sprint planning → Daily stand-ups → Review vs acceptance criteria → Retrospective → Blocker tracking in Jira / Trello. Prioritisation balances business value, customer impact, effort and risk.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&amp; Brand Positioning Framework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positioning statements – require stakeholder approval &amp; evidence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Real Estate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1430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For home seekers in Bhopal, Agrawal Builders is the trusted residential developer that delivers quality projects in prime locations, because of its long track record and focus on customer experience.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859536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Auto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0116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For retailers and workshops, Mak Motors is the reliable source of automotive batteries and tool kits that combines product availability with practical support, because of focused channel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59536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EdTech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88036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For parents seeking CBSE education, Sahar Public Schools is the school that combines academic focus with a clear, approachable admissions journey, because of parent-centric communication.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859536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749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74904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For pharmacies, hospitals and distributors under the contract, the service is the coordinated partner that maintains clear communication and issue resolution across the network.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Messaging &amp; Sales Enablement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supported by Figma &amp; Adobe Illustrator as reported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Messaging Framework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Value prop → Proof points → Objection handling per vertical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One-pagers &amp; Brochures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Project / product / school / service summary sheets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Sales Pitch Decks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Segment-specific presentations for sales conversations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80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FAQ &amp; Objection Guides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Common questions and recommended responses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2880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Lead Qualification Scripts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3337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Questions that surface intent and fit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65176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880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Digital Content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3337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Landing-page copy, social posts, campaign creative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Go-to-Market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 to each vertical’s buying journey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Real Estate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Awareness → Enquiry → Qualification → Consultation → Site Visit → Negotiation → Closure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Auto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148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Awareness → Channel Enquiry → Product Evaluation → Commercial Discussion → Order / Relationship → Repeat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EdTech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Awareness → Parent Enquiry → Counselling → School Visit → Application → Admission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Healthcare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3886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Stakeholder Onboarding → Requirement Communication → Delivery Coordination → Issue Resolution → Review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Growth Experiment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Test-and-learn framework – proposed targets only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188720"/>
            <a:ext cx="21031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Estate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Hypothesis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Project-specific vs generic messaging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Leading Metric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Enquiry-to-visit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118872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1188720"/>
            <a:ext cx="21031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Hypothesis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2057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Technical product sheet vs general promo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Leading Metric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3383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Qualified channel enquiries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1188720"/>
            <a:ext cx="21031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EdTech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Hypothesis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057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Education-value vs facility-focused messaging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Leading Metric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383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Enquiry volume &amp; quality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118872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0" y="1188720"/>
            <a:ext cx="21031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9516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Hypothesis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95160" y="2057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Standardised updates vs ad-hoc communication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Leading Metric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3383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Open-blocker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Analytics &amp; Success Metrics Dashboard Spec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 – placeholders where actual data unavailable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148840" cy="3383280"/>
          </a:xfrm>
          <a:prstGeom prst="roundRect">
            <a:avLst>
              <a:gd name="adj" fmla="val 3404"/>
            </a:avLst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051560"/>
            <a:ext cx="214884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097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Estate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Qualified enquiries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057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Enquiry → Site-visit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Site visits completed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Pipeline value / count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Project closures (reported: 13)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1051560"/>
            <a:ext cx="2148840" cy="3383280"/>
          </a:xfrm>
          <a:prstGeom prst="roundRect">
            <a:avLst>
              <a:gd name="adj" fmla="val 3404"/>
            </a:avLst>
          </a:prstGeom>
          <a:solidFill>
            <a:srgbClr val="F7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1051560"/>
            <a:ext cx="214884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1097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Qualified channel enquiries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2057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Product evaluations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Distributor engagement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Order conversion*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Repeat business*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2148840" cy="3383280"/>
          </a:xfrm>
          <a:prstGeom prst="roundRect">
            <a:avLst>
              <a:gd name="adj" fmla="val 3404"/>
            </a:avLst>
          </a:prstGeom>
          <a:solidFill>
            <a:srgbClr val="F7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1051560"/>
            <a:ext cx="214884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EdTech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Enquiries received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057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Counselling bookings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School visits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Applications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Admissions (illustrative tracking)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1051560"/>
            <a:ext cx="2148840" cy="3383280"/>
          </a:xfrm>
          <a:prstGeom prst="roundRect">
            <a:avLst>
              <a:gd name="adj" fmla="val 3404"/>
            </a:avLst>
          </a:prstGeom>
          <a:solidFill>
            <a:srgbClr val="F7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6949440" y="1051560"/>
            <a:ext cx="214884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1097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Accounts in scope (130)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2057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Communication coverage 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Open issues / blockers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Response &amp; resolution time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•  Service completion*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Management &amp; Cross-Functional Collaboration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RACI-style ownership 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194560" cy="457200"/>
          </a:xfrm>
          <a:prstGeom prst="rect">
            <a:avLst/>
          </a:prstGeom>
          <a:solidFill>
            <a:srgbClr val="0B1F3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188720" cy="457200"/>
          </a:xfrm>
          <a:prstGeom prst="rect">
            <a:avLst/>
          </a:prstGeom>
          <a:solidFill>
            <a:srgbClr val="0B1F3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 / PM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097280"/>
            <a:ext cx="1188720" cy="457200"/>
          </a:xfrm>
          <a:prstGeom prst="rect">
            <a:avLst/>
          </a:prstGeom>
          <a:solidFill>
            <a:srgbClr val="0B1F3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1280160" cy="457200"/>
          </a:xfrm>
          <a:prstGeom prst="rect">
            <a:avLst/>
          </a:prstGeom>
          <a:solidFill>
            <a:srgbClr val="0B1F3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1463040" cy="457200"/>
          </a:xfrm>
          <a:prstGeom prst="rect">
            <a:avLst/>
          </a:prstGeom>
          <a:solidFill>
            <a:srgbClr val="0B1F3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Ops / Delivery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097280"/>
            <a:ext cx="1280160" cy="457200"/>
          </a:xfrm>
          <a:prstGeom prst="rect">
            <a:avLst/>
          </a:prstGeom>
          <a:solidFill>
            <a:srgbClr val="0B1F3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55448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Requirements &amp; backlog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155448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A/R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155448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5544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55448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15544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011680"/>
            <a:ext cx="219456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Sprint planning &amp; 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68880" y="2011680"/>
            <a:ext cx="11887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A/R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2011680"/>
            <a:ext cx="11887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011680"/>
            <a:ext cx="128016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011680"/>
            <a:ext cx="146304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89520" y="2011680"/>
            <a:ext cx="128016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46888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Brand &amp; messaging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68880" y="246888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0" y="246888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24688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A/R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26480" y="246888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589520" y="24688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2926080"/>
            <a:ext cx="219456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GTM execution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468880" y="2926080"/>
            <a:ext cx="11887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6888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0" y="2926080"/>
            <a:ext cx="11887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A/R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846320" y="2926080"/>
            <a:ext cx="128016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A/R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26480" y="2926080"/>
            <a:ext cx="146304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2648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589520" y="2926080"/>
            <a:ext cx="128016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8952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74320" y="338328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Blocker resolution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468880" y="338328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6888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657600" y="338328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846320" y="33832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I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126480" y="338328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2648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R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589520" y="33832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8952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74320" y="3840480"/>
            <a:ext cx="219456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Success metrics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468880" y="3840480"/>
            <a:ext cx="11887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46888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A/R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0" y="3840480"/>
            <a:ext cx="11887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846320" y="3840480"/>
            <a:ext cx="128016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4632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126480" y="3840480"/>
            <a:ext cx="146304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2648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C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589520" y="3840480"/>
            <a:ext cx="128016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58952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I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274320" y="44348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</a:rPr>
              <a:t>R = Responsible, A = Accountable, C = Consulted, I = Informed. Engineering / tech teams engaged only where relevant to the vertical.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Outcomes &amp; Business 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supplied facts – contribution context, not exclusive causality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25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7377"/>
                </a:solidFill>
              </a:rPr>
              <a:t>13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Real-estate projects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contributed to closure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(5 residential + 8 commercial)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325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7377"/>
                </a:solidFill>
              </a:rPr>
              <a:t>130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Pharmacies, hospitals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distributors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Lupin-related contract scope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325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7377"/>
                </a:solidFill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Interns mentored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research, testing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09728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325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7377"/>
                </a:solidFill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49440" y="2103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Business verticals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spanned with product,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</a:rPr>
              <a:t>branding &amp; GTM 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566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</a:rPr>
              <a:t>A. Reported outcomes  |  B. Responsibilities described  |  C. Reconstructed frameworks for portfolio  |  D. Evidence still needed for deeper claims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No revenue, profit, ROI, conversion percentages or market-share figures are claimed. Project closures and contract scope are presented as reported business outcomes to which product, branding and GTM activities contributed.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 &amp; Product Management Maturity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the four-vertical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34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1.  Translating business objectives into clear product / service requirements and user stories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57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2.  Understanding distinct customer segments and Jobs-to-Be-Done across industries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880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3.  Connecting product strategy with brand positioning and sales enablement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703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4.  Prioritising by value, effort, risk and feedback rather than by activity volume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234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5.  Aligning marketing and sales activities to measurable funnel stages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92024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057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6.  Using hypotheses and light experiments to reduce uncertainty before heavy investment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74320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80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7.  Applying the same product-thinking lens to software, services and operational workflows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56616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703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</a:rPr>
              <a:t>8.  Moving from activity tracking toward outcome-oriented metrics and iteration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Portfolio Appendix Checklist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strengthens the portfolio further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  |  Product Owner · Product Manager · Growth &amp; Product Marketing  |  Portfolio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PRD / BRD documents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Reconstructed in supporting pack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Hypothesis register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Reconstructed (3+ per vertical)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Personas &amp; journey maps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Illustrative – labelled as such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Now / Next / Later roadmaps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Retrospective frameworks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Sample backlog &amp; user stories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Illustrative Jira/Trello style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Brand positioning statements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Draft recommendations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GTM plans &amp; funnel maps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Reconstructed per vertical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Experiment register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Proposed test-and-learn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Metrics dashboard template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Specification only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▸  Redacted project / contract evidence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To be supplied if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Product Management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  +  Business Strategy  +  Product Ownership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Brand Positioning  +  Go-to-Market  +  Execution  +  Measurement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Thakur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/ Retrospective Case Study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2911</Words>
  <Application>Microsoft Office PowerPoint</Application>
  <PresentationFormat>On-screen Show (16:9)</PresentationFormat>
  <Paragraphs>566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Ownership, Growth &amp; Go-to-Market Strategy – Four Vertical Case Study</dc:title>
  <dc:subject>Portfolio / Retrospective Case Study</dc:subject>
  <dc:creator>Keerti Thakur</dc:creator>
  <cp:lastModifiedBy>shruti thakur</cp:lastModifiedBy>
  <cp:revision>2</cp:revision>
  <dcterms:created xsi:type="dcterms:W3CDTF">2026-10-19T17:37:36Z</dcterms:created>
  <dcterms:modified xsi:type="dcterms:W3CDTF">2026-10-19T20:21:30Z</dcterms:modified>
</cp:coreProperties>
</file>