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142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0E5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0292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 frameworks to be validated  |  Reported facts only: no revenue, ROI or conversion % claimed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1463040"/>
            <a:ext cx="3108960" cy="3108960"/>
          </a:xfrm>
          <a:prstGeom prst="ellipse">
            <a:avLst/>
          </a:prstGeom>
          <a:solidFill>
            <a:srgbClr val="7BCB5A"/>
          </a:solidFill>
          <a:ln w="12700">
            <a:solidFill>
              <a:srgbClr val="7BCB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0" y="14630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0E5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 |  LUPIN-RELATED CONTRACT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0E5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Coordination: PRD, Hypotheses &amp; GTM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40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4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Reported: coordinated 130 pharmacies, hospitals and distributors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5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research from zero: 8 weeks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1790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1-2  Frame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04088" y="1938528"/>
            <a:ext cx="22494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contract lead and field team: scope, service levels, compliance limits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93008" y="151790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2-4  Desk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93008" y="1938528"/>
            <a:ext cx="22494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130 accounts by type, city, volume and contact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0760" y="13716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81928" y="151790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4-6  Field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81928" y="1938528"/>
            <a:ext cx="22494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Call-sample 20 accounts on stock, ordering and communication gaps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69680" y="13716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70848" y="151790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6-8  Synthesize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070848" y="1938528"/>
            <a:ext cx="22494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accounts; define needs and escalation per stakeholder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572000"/>
            <a:ext cx="11155680" cy="1554480"/>
          </a:xfrm>
          <a:prstGeom prst="roundRect">
            <a:avLst>
              <a:gd name="adj" fmla="val 470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754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074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Pharmacist, hospital procurement, distributor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4754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TO BE DONE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5074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consistent supply and fast, clear answers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4754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5074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follow-up, unresolved blockers, unclear contact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5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Hypotheses to validate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48463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 (if / then)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validate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E5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Stakeholder-specific updates reduce communication gaps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 coverage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on 30 accounts vs the rest for 4 weeks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E5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central issue log with one owner reduces open blockers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blockers; time to resolve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log-managed vs ad-hoc accounts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E5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weekly coverage report speeds management escalation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Escalation turnaround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report use at weeks 2 and 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5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PRD: Stakeholder Coordination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17904"/>
            <a:ext cx="512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goal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04088" y="1938528"/>
            <a:ext cx="5129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mixed accounts with scattered follow-ups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full coverage and faster issue resolution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0" y="137160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27648" y="1517904"/>
            <a:ext cx="512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 (must-have)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27648" y="1938528"/>
            <a:ext cx="5129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directory with role and tier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log: owner, priority, due date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tracker and weekly report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84048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" y="3986784"/>
            <a:ext cx="512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4407408"/>
            <a:ext cx="5129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Coordinator: log an issue in one minute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contact: get status without chasing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Manager: see open blockers by account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384048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7648" y="3986784"/>
            <a:ext cx="512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and non-goals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27648" y="4407408"/>
            <a:ext cx="5129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%, open blockers, time to resolution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now: clinical or patient data, ERP. Role-based access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5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leads and responses from the target audience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44805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technique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get a response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E5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Distributor meets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review with scorecard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list sent within 48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E5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Pharmacy visits and calls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Tiered cadence: A weekly, B fortnightly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logged, owner assigned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E5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procurement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point of contact; process checklist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update on schedule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E5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and email updates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Segmented lists; compliant information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replies; call non-responders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5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 journey and techniques applied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2103120" cy="594360"/>
          </a:xfrm>
          <a:prstGeom prst="rect">
            <a:avLst/>
          </a:prstGeom>
          <a:solidFill>
            <a:srgbClr val="0E5A4A"/>
          </a:solidFill>
          <a:ln w="12700">
            <a:solidFill>
              <a:srgbClr val="0E5A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103120" cy="123444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" y="205740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Contacts, roles, tiers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291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Accounts onboarded of 130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66060" y="1371600"/>
            <a:ext cx="2103120" cy="594360"/>
          </a:xfrm>
          <a:prstGeom prst="rect">
            <a:avLst/>
          </a:prstGeom>
          <a:solidFill>
            <a:srgbClr val="0E5A4A"/>
          </a:solidFill>
          <a:ln w="12700">
            <a:solidFill>
              <a:srgbClr val="0E5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6606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66060" y="1965960"/>
            <a:ext cx="2103120" cy="123444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75788" y="205740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Stakeholder-specific briefs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66060" y="3291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Coverage 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1371600"/>
            <a:ext cx="2103120" cy="594360"/>
          </a:xfrm>
          <a:prstGeom prst="rect">
            <a:avLst/>
          </a:prstGeom>
          <a:solidFill>
            <a:srgbClr val="0E5A4A"/>
          </a:solidFill>
          <a:ln w="12700">
            <a:solidFill>
              <a:srgbClr val="0E5A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Coordination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0" y="1965960"/>
            <a:ext cx="2103120" cy="123444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38928" y="205740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tracker, reminders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291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On-time follow-ups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92340" y="1371600"/>
            <a:ext cx="2103120" cy="594360"/>
          </a:xfrm>
          <a:prstGeom prst="rect">
            <a:avLst/>
          </a:prstGeom>
          <a:solidFill>
            <a:srgbClr val="0E5A4A"/>
          </a:solidFill>
          <a:ln w="12700">
            <a:solidFill>
              <a:srgbClr val="0E5A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9234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Resolution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92340" y="1965960"/>
            <a:ext cx="2103120" cy="123444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02068" y="205740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Log, owner, escalation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292340" y="3291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Time to resolve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555480" y="1371600"/>
            <a:ext cx="2103120" cy="594360"/>
          </a:xfrm>
          <a:prstGeom prst="rect">
            <a:avLst/>
          </a:prstGeom>
          <a:solidFill>
            <a:srgbClr val="0E5A4A"/>
          </a:solidFill>
          <a:ln w="12700">
            <a:solidFill>
              <a:srgbClr val="0E5A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5548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555480" y="1965960"/>
            <a:ext cx="2103120" cy="123444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65208" y="205740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report, quarterly review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555480" y="3291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Actions closed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E5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Techniques applied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02920" y="44805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4088" y="4626864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the 130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04088" y="5047488"/>
            <a:ext cx="3209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grouped A, B, C by volume and risk set call cadence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274820" y="44805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75988" y="4626864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owner per issue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4475988" y="5047488"/>
            <a:ext cx="3209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blocker logged with owner, priority, due date until closed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046720" y="44805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47888" y="4626864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coverage review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247888" y="5047488"/>
            <a:ext cx="3209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sees contacted vs pending accounts and open blockers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04_Healthcare_Lupin_Contract">
  <a:themeElements>
    <a:clrScheme name="04_Healthcare_Lupin_Contract">
      <a:dk1>
        <a:srgbClr val="222222"/>
      </a:dk1>
      <a:lt1>
        <a:srgbClr val="FFFFFF"/>
      </a:lt1>
      <a:dk2>
        <a:srgbClr val="0E5A4A"/>
      </a:dk2>
      <a:lt2>
        <a:srgbClr val="F1F4F7"/>
      </a:lt2>
      <a:accent1>
        <a:srgbClr val="0E5A4A"/>
      </a:accent1>
      <a:accent2>
        <a:srgbClr val="7BCB5A"/>
      </a:accent2>
      <a:accent3>
        <a:srgbClr val="6B7785"/>
      </a:accent3>
      <a:accent4>
        <a:srgbClr val="D5DAE0"/>
      </a:accent4>
      <a:accent5>
        <a:srgbClr val="7BCB5A"/>
      </a:accent5>
      <a:accent6>
        <a:srgbClr val="0E5A4A"/>
      </a:accent6>
      <a:hlink>
        <a:srgbClr val="7BCB5A"/>
      </a:hlink>
      <a:folHlink>
        <a:srgbClr val="0E5A4A"/>
      </a:folHlink>
    </a:clrScheme>
    <a:fontScheme name="04_Healthcare_Lupin_Contrac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467</Words>
  <Application>Microsoft Office PowerPoint</Application>
  <PresentationFormat>Widescreen</PresentationFormat>
  <Paragraphs>101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04_Healthcare_Lupin_Contract</vt:lpstr>
      <vt:lpstr>PowerPoint Presentation</vt:lpstr>
      <vt:lpstr>Market research from zero: 8 weeks</vt:lpstr>
      <vt:lpstr>Hypotheses to validate</vt:lpstr>
      <vt:lpstr>PRD: Stakeholder Coordination</vt:lpstr>
      <vt:lpstr>Getting leads and responses from the target audience</vt:lpstr>
      <vt:lpstr>Go-to-market journey and techniques applied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shruti thakur</cp:lastModifiedBy>
  <cp:revision>2</cp:revision>
  <dcterms:created xsi:type="dcterms:W3CDTF">2026-10-27T13:46:19Z</dcterms:created>
  <dcterms:modified xsi:type="dcterms:W3CDTF">2026-10-27T14:05:39Z</dcterms:modified>
</cp:coreProperties>
</file>